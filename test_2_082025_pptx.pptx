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Estimates Through Uncertainty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Lesley Chapman Hannah, Ph.D., M.S.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Review: Estimation in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estimation is the process of evaluating how that number behaves across repeated sampling</a:t>
            </a:r>
          </a:p>
          <a:p>
            <a:pPr lvl="0" indent="0" marL="0">
              <a:buNone/>
            </a:pPr>
            <a:r>
              <a:rPr/>
              <a:t>the following statistical estimation concepts were established:</a:t>
            </a:r>
          </a:p>
          <a:p>
            <a:pPr lvl="0"/>
            <a:r>
              <a:rPr b="1"/>
              <a:t>population quantity [parameter]</a:t>
            </a:r>
            <a:r>
              <a:rPr/>
              <a:t> : defines the scientific target</a:t>
            </a:r>
          </a:p>
          <a:p>
            <a:pPr lvl="1"/>
            <a:r>
              <a:rPr/>
              <a:t>example: mean eGFR, disease prevalence</a:t>
            </a:r>
          </a:p>
          <a:p>
            <a:pPr lvl="0"/>
            <a:r>
              <a:rPr b="1"/>
              <a:t>sample-based estimator</a:t>
            </a:r>
            <a:r>
              <a:rPr/>
              <a:t>: provides a way to approximate that quantity</a:t>
            </a:r>
          </a:p>
          <a:p>
            <a:pPr lvl="1"/>
            <a:r>
              <a:rPr/>
              <a:t>example: sample mean, sample proportion</a:t>
            </a:r>
          </a:p>
          <a:p>
            <a:pPr lvl="0"/>
            <a:r>
              <a:rPr b="1"/>
              <a:t>point estimate</a:t>
            </a:r>
            <a:r>
              <a:rPr/>
              <a:t> : summarizes observed data into a single value</a:t>
            </a:r>
          </a:p>
          <a:p>
            <a:pPr lvl="0" indent="0" marL="0">
              <a:buNone/>
            </a:pPr>
            <a:r>
              <a:rPr/>
              <a:t>Evaluation of estimators using two key properties:</a:t>
            </a:r>
          </a:p>
          <a:p>
            <a:pPr lvl="0"/>
            <a:r>
              <a:rPr/>
              <a:t>bias [accuracy]</a:t>
            </a:r>
          </a:p>
          <a:p>
            <a:pPr lvl="1"/>
            <a:r>
              <a:rPr/>
              <a:t>whether the estimator is centered on the true parameter across repeated samples</a:t>
            </a:r>
          </a:p>
          <a:p>
            <a:pPr lvl="0"/>
            <a:r>
              <a:rPr/>
              <a:t>variance [precision]</a:t>
            </a:r>
          </a:p>
          <a:p>
            <a:pPr lvl="1"/>
            <a:r>
              <a:rPr/>
              <a:t>how much the estimate varies from one sample to another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Extending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previously we discussed that estimation is a task that involves using sample data to learn about an unknown population quantity</a:t>
            </a:r>
          </a:p>
          <a:p>
            <a:pPr lvl="0"/>
            <a:r>
              <a:rPr/>
              <a:t>point estimate is single realization from a repeated-sampling process</a:t>
            </a:r>
          </a:p>
          <a:p>
            <a:pPr lvl="0"/>
            <a:r>
              <a:rPr/>
              <a:t>estimators must be judged by their behavior across samples, including bias and variability</a:t>
            </a:r>
          </a:p>
          <a:p>
            <a:pPr lvl="0" indent="0" marL="0">
              <a:buNone/>
            </a:pPr>
            <a:r>
              <a:rPr/>
              <a:t>Current lecture addresses the following idea:</a:t>
            </a:r>
          </a:p>
          <a:p>
            <a:pPr lvl="0" indent="0" marL="1270000">
              <a:buNone/>
            </a:pPr>
            <a:r>
              <a:rPr sz="2000"/>
              <a:t>point estimate provides a single value, but scientific conclusions require an assessment of how much uncertainty surrounds that value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Extending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Lecture concepts:</a:t>
            </a:r>
          </a:p>
          <a:p>
            <a:pPr lvl="0"/>
            <a:r>
              <a:rPr/>
              <a:t>Interval estimates extend point estimates by accounting for sampling variability, providing a range of values that are consistent with the data rather than a single value alone</a:t>
            </a:r>
          </a:p>
          <a:p>
            <a:pPr lvl="0"/>
            <a:r>
              <a:rPr/>
              <a:t>Every estimate is subject to sampling variability, meaning that a different sample from the same population would produce a different value</a:t>
            </a:r>
          </a:p>
          <a:p>
            <a:pPr lvl="0"/>
            <a:r>
              <a:rPr/>
              <a:t>Interval estimates provide a range that reflects this variability, indicating how stable the estimate is and how close it is likely to be to the true population quantity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Review: Point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point estimate</a:t>
            </a:r>
            <a:r>
              <a:rPr/>
              <a:t> : metric that uses sample data to produce one numerical value for a population parameter</a:t>
            </a:r>
          </a:p>
          <a:p>
            <a:pPr lvl="0" indent="0" marL="0">
              <a:buNone/>
            </a:pPr>
            <a:r>
              <a:rPr/>
              <a:t>Examples include:</a:t>
            </a:r>
          </a:p>
          <a:p>
            <a:pPr lvl="0"/>
            <a:r>
              <a:rPr/>
              <a:t>sample mean as an estimate of a population mean</a:t>
            </a:r>
          </a:p>
          <a:p>
            <a:pPr lvl="0"/>
            <a:r>
              <a:rPr/>
              <a:t>sample proportion as an estimate of a population proportion</a:t>
            </a:r>
          </a:p>
          <a:p>
            <a:pPr lvl="0"/>
            <a:r>
              <a:rPr/>
              <a:t>differences in mean - observed treatment difference as an estimate of a population effect</a:t>
            </a:r>
          </a:p>
          <a:p>
            <a:pPr lvl="0" indent="0" marL="0">
              <a:buNone/>
            </a:pPr>
            <a:r>
              <a:rPr/>
              <a:t>point estimates do not show how much the estimate could vary from sample to sample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Estimate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Background: suppose a study reports that the sample mean eGFR is 60.8 mL/min/1.73 m²</a:t>
            </a:r>
          </a:p>
          <a:p>
            <a:pPr lvl="0" indent="0" marL="0">
              <a:buNone/>
            </a:pPr>
            <a:r>
              <a:rPr/>
              <a:t>Unaddressed questions:</a:t>
            </a:r>
          </a:p>
          <a:p>
            <a:pPr lvl="0"/>
            <a:r>
              <a:rPr/>
              <a:t>How much would this estimate change if the study were repeated?</a:t>
            </a:r>
          </a:p>
          <a:p>
            <a:pPr lvl="0"/>
            <a:r>
              <a:rPr/>
              <a:t>Is the mean estimated precisely, or only roughly?</a:t>
            </a:r>
          </a:p>
          <a:p>
            <a:pPr lvl="0"/>
            <a:r>
              <a:rPr/>
              <a:t>Are nearby values such as 59, 61, or 64 still plausible for the population mean?</a:t>
            </a:r>
          </a:p>
          <a:p>
            <a:pPr lvl="0"/>
            <a:r>
              <a:rPr/>
              <a:t>point estimates alone include no information about variability</a:t>
            </a:r>
          </a:p>
          <a:p>
            <a:pPr lvl="0"/>
            <a:r>
              <a:rPr/>
              <a:t>two studies can report the same estimate while differing in precision</a:t>
            </a:r>
          </a:p>
          <a:p>
            <a:pPr lvl="0"/>
            <a:r>
              <a:rPr/>
              <a:t>interval estimates provide a range that reflects variability and makes those differences visible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Interval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interval estimate</a:t>
            </a:r>
            <a:r>
              <a:rPr/>
              <a:t> :</a:t>
            </a:r>
          </a:p>
          <a:p>
            <a:pPr lvl="0"/>
            <a:r>
              <a:rPr/>
              <a:t>range of values used to estimate a population parameter</a:t>
            </a:r>
          </a:p>
          <a:p>
            <a:pPr lvl="0"/>
            <a:r>
              <a:rPr/>
              <a:t>extends the point estimate by giving a range of plausible values for the population parameter</a:t>
            </a:r>
          </a:p>
          <a:p>
            <a:pPr lvl="0" indent="0" marL="0">
              <a:buNone/>
            </a:pPr>
            <a:r>
              <a:rPr/>
              <a:t>Point Estimate versus Interval Estimate:</a:t>
            </a:r>
          </a:p>
          <a:p>
            <a:pPr lvl="0"/>
            <a:r>
              <a:rPr/>
              <a:t>point estimate: best single-number summary from the sample</a:t>
            </a:r>
          </a:p>
          <a:p>
            <a:pPr lvl="0"/>
            <a:r>
              <a:rPr/>
              <a:t>Answers: what was observed in this sample?</a:t>
            </a:r>
          </a:p>
          <a:p>
            <a:pPr lvl="0"/>
            <a:r>
              <a:rPr/>
              <a:t>interval estimate: range of values compatible with the sample and its uncertainty**</a:t>
            </a:r>
          </a:p>
          <a:p>
            <a:pPr lvl="0"/>
            <a:r>
              <a:rPr/>
              <a:t>Answers: what does the sample suggests about the population, allowing for sampling variability?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Defining Interval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interval estimate</a:t>
            </a:r>
            <a:r>
              <a:rPr/>
              <a:t> : sample-based range of values used to estimate an unknown population parameter</a:t>
            </a:r>
          </a:p>
          <a:p>
            <a:pPr lvl="0"/>
            <a:r>
              <a:rPr/>
              <a:t>range of values computed from sample data that estimates an unknown population quantity while incorporating sampling uncertainty</a:t>
            </a:r>
          </a:p>
          <a:p>
            <a:pPr lvl="0" indent="0" marL="0">
              <a:buNone/>
            </a:pPr>
            <a:r>
              <a:rPr/>
              <a:t>Properties of interval estimates:</a:t>
            </a:r>
          </a:p>
          <a:p>
            <a:pPr lvl="0"/>
            <a:r>
              <a:rPr/>
              <a:t>constructed from the observed sample</a:t>
            </a:r>
          </a:p>
          <a:p>
            <a:pPr lvl="0"/>
            <a:r>
              <a:rPr/>
              <a:t>targets a population quantity, not just the sample itself</a:t>
            </a:r>
          </a:p>
          <a:p>
            <a:pPr lvl="0"/>
            <a:r>
              <a:rPr/>
              <a:t>reflects sampling variability by indicating that the estimate could differ across repeated samples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Defining Confidence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interval estimates involve generating a range of numbers within which the parameter is expected to lie so that within a chosen degree of confidence the true unknown parameter is capture inside the interval</a:t>
            </a:r>
          </a:p>
          <a:p>
            <a:pPr lvl="0"/>
            <a:r>
              <a:rPr/>
              <a:t>point estimates will differ from the population parameter due to the sampling error and it is difficult to approximate how close the point estimate is to the actual parameter</a:t>
            </a:r>
          </a:p>
          <a:p>
            <a:pPr lvl="0"/>
            <a:r>
              <a:rPr b="1"/>
              <a:t>confidence interval</a:t>
            </a:r>
            <a:r>
              <a:rPr/>
              <a:t> :</a:t>
            </a:r>
          </a:p>
          <a:p>
            <a:pPr lvl="1"/>
            <a:r>
              <a:rPr/>
              <a:t>interval estimate constructed from sample data along with a stated confidence level</a:t>
            </a:r>
          </a:p>
          <a:p>
            <a:pPr lvl="1"/>
            <a:r>
              <a:rPr/>
              <a:t>value generated such that over repeated samples, a specified proportion of such intervals will contain the true population parameter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/>
            <a:r>
              <a:rPr/>
              <a:t>95% confidence interval (CI) - under repeated sampling the 95% CI captures the true population parameter about 95% of the time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Confidence Intervals and Interval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confidence interval</a:t>
            </a:r>
            <a:r>
              <a:rPr/>
              <a:t> : frequentist method for converting a point estimate and its sampling variability into an interval estimate for a population parameter</a:t>
            </a:r>
          </a:p>
          <a:p>
            <a:pPr lvl="0" indent="0" marL="0">
              <a:buNone/>
            </a:pPr>
            <a:r>
              <a:rPr/>
              <a:t>confidence intervals within the sequence of estimation:</a:t>
            </a:r>
          </a:p>
          <a:p>
            <a:pPr lvl="0" indent="-342900" marL="342900">
              <a:buAutoNum type="arabicPeriod"/>
            </a:pPr>
            <a:r>
              <a:rPr b="1"/>
              <a:t>identify the population quantity of interest</a:t>
            </a:r>
          </a:p>
          <a:p>
            <a:pPr lvl="0" indent="0" marL="0">
              <a:buNone/>
            </a:pPr>
            <a:r>
              <a:rPr/>
              <a:t>Example: mean, proportion, or difference between groups</a:t>
            </a:r>
          </a:p>
          <a:p>
            <a:pPr lvl="0" indent="-342900" marL="342900">
              <a:buAutoNum startAt="2" type="arabicPeriod"/>
            </a:pPr>
            <a:r>
              <a:rPr b="1"/>
              <a:t>compute a point estimate from the sample</a:t>
            </a:r>
          </a:p>
          <a:p>
            <a:pPr lvl="0" indent="0" marL="0">
              <a:buNone/>
            </a:pPr>
            <a:r>
              <a:rPr/>
              <a:t>a single value summarizing the observed data</a:t>
            </a:r>
          </a:p>
          <a:p>
            <a:pPr lvl="0" indent="-342900" marL="342900">
              <a:buAutoNum startAt="3" type="arabicPeriod"/>
            </a:pPr>
            <a:r>
              <a:rPr b="1"/>
              <a:t>quantify sampling variability</a:t>
            </a:r>
          </a:p>
          <a:p>
            <a:pPr lvl="0" indent="0" marL="0">
              <a:buNone/>
            </a:pPr>
            <a:r>
              <a:rPr/>
              <a:t>assess how much the estimate would vary across repeated samples [standard error]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Confidence Intervals and Interval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confidence interval</a:t>
            </a:r>
            <a:r>
              <a:rPr/>
              <a:t> : frequentist method for converting a point estimate and its sampling variability into an interval estimate for a population parameter</a:t>
            </a:r>
          </a:p>
          <a:p>
            <a:pPr lvl="0" indent="0" marL="0">
              <a:buNone/>
            </a:pPr>
            <a:r>
              <a:rPr/>
              <a:t>confidence intervals within the sequence of estimation:</a:t>
            </a:r>
          </a:p>
          <a:p>
            <a:pPr lvl="0" indent="-342900" marL="342900">
              <a:buAutoNum startAt="4" type="arabicPeriod"/>
            </a:pPr>
            <a:r>
              <a:rPr b="1"/>
              <a:t>construct an interval estimate</a:t>
            </a:r>
          </a:p>
          <a:p>
            <a:pPr lvl="0" indent="0" marL="0">
              <a:buNone/>
            </a:pPr>
            <a:r>
              <a:rPr/>
              <a:t>represent that variability as a range of plausible values</a:t>
            </a:r>
          </a:p>
          <a:p>
            <a:pPr lvl="0" indent="-342900" marL="342900">
              <a:buAutoNum startAt="5" type="arabicPeriod"/>
            </a:pPr>
            <a:r>
              <a:rPr b="1"/>
              <a:t>interpret the interval estimate</a:t>
            </a:r>
          </a:p>
          <a:p>
            <a:pPr lvl="0" indent="0" marL="0">
              <a:buNone/>
            </a:pPr>
            <a:r>
              <a:rPr/>
              <a:t>use the confidence interval to identify which values of the population parameter are consistent with the observed data and to assess the precision of the estimate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Confidence Interval Versus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standard deviation</a:t>
            </a:r>
            <a:r>
              <a:rPr/>
              <a:t> : variability among observed individual values in the sample</a:t>
            </a:r>
          </a:p>
          <a:p>
            <a:pPr lvl="0"/>
            <a:r>
              <a:rPr b="1"/>
              <a:t>confidence interval</a:t>
            </a:r>
            <a:r>
              <a:rPr/>
              <a:t> : range for the population parameter based on the sample estimate and its uncertainty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 b="1"/>
              <a:t>standard deviation</a:t>
            </a:r>
            <a:r>
              <a:rPr/>
              <a:t>: spread of patient-level values</a:t>
            </a:r>
          </a:p>
          <a:p>
            <a:pPr lvl="0" indent="0" marL="0">
              <a:buNone/>
            </a:pPr>
            <a:r>
              <a:rPr/>
              <a:t>e.x.: eGFR values vary greatly from patient to patient, that affects the standard deviation</a:t>
            </a:r>
          </a:p>
          <a:p>
            <a:pPr lvl="0"/>
            <a:r>
              <a:rPr b="1"/>
              <a:t>confidence interval</a:t>
            </a:r>
            <a:r>
              <a:rPr/>
              <a:t>: plausible range for the population parameter</a:t>
            </a:r>
          </a:p>
          <a:p>
            <a:pPr lvl="0" indent="0" marL="0">
              <a:buNone/>
            </a:pPr>
            <a:r>
              <a:rPr/>
              <a:t>e.x.: how precisely the mean eGFR has been estimated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Simulated Biomedical Dataset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ckd_df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|&gt;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slice_head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6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 A tibble: 6 × 6
     id treatment      egfr response   age   bmi
  &lt;int&gt; &lt;chr&gt;         &lt;dbl&gt;    &lt;int&gt; &lt;dbl&gt; &lt;dbl&gt;
1     1 Standard care  43.8        0    65  27.1
2     2 Standard care  66.0        1    52  35.5
3     3 Standard care  48.8        0    41  28.8
4     4 Standard care  50.3        0    58  25.8
5     5 Standard care  59.4        0    55  33  
6     6 Standard care  54.3        1    46  29.4</a:t>
                </a:r>
              </a:p>
              <a:p>
                <a:pPr lvl="0"/>
                <a:r>
                  <a:rPr/>
                  <a:t>dataset represents a simulated cohort of patients with chronic kidney disease (CKD)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condition characterized by a gradual decline in kidney function over time</a:t>
                </a:r>
              </a:p>
              <a:p>
                <a:pPr lvl="0"/>
                <a:r>
                  <a:rPr/>
                  <a:t>one row per patient</a:t>
                </a:r>
              </a:p>
              <a:p>
                <a:pPr lvl="0"/>
                <a:r>
                  <a:rPr>
                    <a:latin typeface="Courier"/>
                  </a:rPr>
                  <a:t>egfr</a:t>
                </a:r>
                <a:r>
                  <a:rPr/>
                  <a:t> is a continuous measure of kidney function</a:t>
                </a:r>
              </a:p>
              <a:p>
                <a:pPr lvl="0"/>
                <a:r>
                  <a:rPr>
                    <a:latin typeface="Courier"/>
                  </a:rPr>
                  <a:t>response</a:t>
                </a:r>
                <a:r>
                  <a:rPr/>
                  <a:t> is a binary indicator of clinical response</a:t>
                </a:r>
              </a:p>
              <a:p>
                <a:pPr lvl="0"/>
                <a:r>
                  <a:rPr>
                    <a:latin typeface="Courier"/>
                  </a:rPr>
                  <a:t>treatment</a:t>
                </a:r>
                <a:r>
                  <a:rPr/>
                  <a:t> identifies the patient group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Constructing a 95%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library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(tidyverse)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summary_df &lt;- ckd_df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|&gt;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summarise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mean_egfr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(egfr),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sd_egfr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(egfr),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se_egfr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sd_egfr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sqrt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(n),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lower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mean_egfr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1.96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se_egfr,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upper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mean_egfr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1.96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se_egfr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)</a:t>
                </a:r>
                <a:br/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summary_df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 A tibble: 1 × 6
      n mean_egfr sd_egfr se_egfr lower upper
  &lt;int&gt;     &lt;dbl&gt;   &lt;dbl&gt;   &lt;dbl&gt; &lt;dbl&gt; &lt;dbl&gt;
1   120      59.8    11.3    1.03  57.8  61.8</a:t>
                </a: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 indent="0" marL="0">
                  <a:buNone/>
                </a:pPr>
                <a:r>
                  <a:rPr/>
                  <a:t>construct a 95% confidence interval for the population mean eGFR:</a:t>
                </a:r>
              </a:p>
              <a:p>
                <a:pPr lvl="0"/>
                <a:r>
                  <a:rPr>
                    <a:latin typeface="Courier"/>
                  </a:rPr>
                  <a:t>n</a:t>
                </a:r>
                <a:r>
                  <a:rPr/>
                  <a:t>[120]: sample size</a:t>
                </a:r>
              </a:p>
              <a:p>
                <a:pPr lvl="0"/>
                <a:r>
                  <a:rPr>
                    <a:latin typeface="Courier"/>
                  </a:rPr>
                  <a:t>mean_egfr</a:t>
                </a:r>
                <a:r>
                  <a:rPr/>
                  <a:t>[59.79] : point estimate of population mean</a:t>
                </a:r>
              </a:p>
              <a:p>
                <a:pPr lvl="0"/>
                <a:r>
                  <a:rPr>
                    <a:latin typeface="Courier"/>
                  </a:rPr>
                  <a:t>sd_egfr</a:t>
                </a:r>
                <a:r>
                  <a:rPr/>
                  <a:t>[11.31] : sample standard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patient-to-patient spread</a:t>
                </a:r>
              </a:p>
              <a:p>
                <a:pPr lvl="0"/>
                <a:r>
                  <a:rPr>
                    <a:latin typeface="Courier"/>
                  </a:rPr>
                  <a:t>se_mean</a:t>
                </a:r>
                <a:r>
                  <a:rPr/>
                  <a:t>[1.03] : standard error of the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estimate-to-estimate variability</a:t>
                </a:r>
              </a:p>
              <a:p>
                <a:pPr lvl="0"/>
                <a:r>
                  <a:rPr>
                    <a:latin typeface="Courier"/>
                  </a:rPr>
                  <a:t>lower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upper</a:t>
                </a:r>
                <a:r>
                  <a:rPr/>
                  <a:t>[57.77, 61.81]: confidence interval endpoints - range of plausible values for the population mean eGFR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Visualizing the Mean and Its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/>
                <a:r>
                  <a:rPr/>
                  <a:t>plot shows the estimate of the mean and the uncertainty attached to that estimate</a:t>
                </a:r>
              </a:p>
              <a:p>
                <a:pPr lvl="0"/>
                <a:r>
                  <a:rPr/>
                  <a:t>point : sample mean</a:t>
                </a:r>
              </a:p>
              <a:p>
                <a:pPr lvl="0"/>
                <a:r>
                  <a:rPr/>
                  <a:t>vertical bar : confidence interval</a:t>
                </a:r>
              </a:p>
              <a:p>
                <a:pPr lvl="0"/>
                <a:r>
                  <a:rPr/>
                  <a:t>interval is narrow : mean has been estimated with relatively high precision</a:t>
                </a:r>
              </a:p>
              <a:p>
                <a:pPr lvl="0"/>
                <a:r>
                  <a:rPr/>
                  <a:t>Note: if the interval is wide: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↑</m:t>
                    </m:r>
                  </m:oMath>
                </a14:m>
                <a:r>
                  <a:rPr/>
                  <a:t> sampling uncertainty about the population mean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Size, Standard Error, and Confidence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How Sample Size Affects Precision and Uncertainty</a:t>
                </a:r>
              </a:p>
              <a:p>
                <a:pPr lvl="0" indent="0" marL="0">
                  <a:buNone/>
                </a:pPr>
                <a:r>
                  <a:rPr/>
                  <a:t>Standard error is defined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as n increases → </a:t>
                </a:r>
                <a:r>
                  <a:rPr i="1"/>
                  <a:t>SE</a:t>
                </a:r>
                <a:r>
                  <a:rPr/>
                  <a:t> decreases</a:t>
                </a:r>
              </a:p>
              <a:p>
                <a:pPr lvl="0"/>
                <a:r>
                  <a:rPr/>
                  <a:t>as standard error decreases → estimates vary less across repeated samples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Size, Standard Error, and Confidence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Confidence intervals are constructed using the standard error: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t>s</m:t>
                      </m:r>
                      <m:r>
                        <m:t>t</m:t>
                      </m:r>
                      <m:r>
                        <m:t>i</m:t>
                      </m:r>
                      <m:r>
                        <m:t>m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±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nor/>
                              <m:sty m:val="p"/>
                            </m:rPr>
                            <m:t>critical value</m:t>
                          </m:r>
                        </m:e>
                      </m:d>
                      <m:r>
                        <m:rPr>
                          <m:sty m:val="p"/>
                        </m:rPr>
                        <m:t>×</m:t>
                      </m:r>
                      <m:r>
                        <m:t>S</m:t>
                      </m:r>
                      <m:r>
                        <m:t>E</m:t>
                      </m:r>
                    </m:oMath>
                  </m:oMathPara>
                </a14:m>
              </a:p>
              <a:p>
                <a:pPr lvl="0"/>
                <a:r>
                  <a:rPr/>
                  <a:t>smaller SE → narrower confidence intervals</a:t>
                </a:r>
              </a:p>
              <a:p>
                <a:pPr lvl="0"/>
                <a:r>
                  <a:rPr/>
                  <a:t>larger SE → wider confidence intervals</a:t>
                </a:r>
              </a:p>
              <a:p>
                <a:pPr lvl="0"/>
                <a:r>
                  <a:rPr/>
                  <a:t>larger samples → more stable estimates and tighter intervals</a:t>
                </a:r>
              </a:p>
              <a:p>
                <a:pPr lvl="0"/>
                <a:r>
                  <a:rPr/>
                  <a:t>smaller samples → more variability and wider intervals</a:t>
                </a:r>
              </a:p>
              <a:p>
                <a:pPr lvl="0"/>
                <a:r>
                  <a:rPr/>
                  <a:t>in research, larger studies produce more precise estimates of population quantities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Confidence Intervals and Sample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4 × 5
      n  mean    se lower upper
  &lt;dbl&gt; &lt;dbl&gt; &lt;dbl&gt; &lt;dbl&gt; &lt;dbl&gt;
1    30  57.2 2.25   52.8  61.6
2   100  61.9 1.01   59.9  63.8
3   300  59.9 0.641  58.6  61.1
4  1000  60.1 0.358  59.4  60.8</a:t>
            </a:r>
          </a:p>
          <a:p>
            <a:pPr lvl="0" indent="0" marL="0">
              <a:buNone/>
            </a:pPr>
            <a:r>
              <a:rPr/>
              <a:t>Hypothesis as </a:t>
            </a:r>
            <a:r>
              <a:rPr>
                <a:latin typeface="Courier"/>
              </a:rPr>
              <a:t>n</a:t>
            </a:r>
            <a:r>
              <a:rPr/>
              <a:t> increases:</a:t>
            </a:r>
          </a:p>
          <a:p>
            <a:pPr lvl="0"/>
            <a:r>
              <a:rPr>
                <a:latin typeface="Courier"/>
              </a:rPr>
              <a:t>se_mean</a:t>
            </a:r>
            <a:r>
              <a:rPr/>
              <a:t> decreases [mean eGFR]</a:t>
            </a:r>
          </a:p>
          <a:p>
            <a:pPr lvl="0"/>
            <a:r>
              <a:rPr>
                <a:latin typeface="Courier"/>
              </a:rPr>
              <a:t>margin_error</a:t>
            </a:r>
            <a:r>
              <a:rPr/>
              <a:t> decreases</a:t>
            </a:r>
          </a:p>
          <a:p>
            <a:pPr lvl="0"/>
            <a:r>
              <a:rPr>
                <a:latin typeface="Courier"/>
              </a:rPr>
              <a:t>approx_width</a:t>
            </a:r>
            <a:r>
              <a:rPr/>
              <a:t> of the interval decreases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Plot: Confidence Intervals vs Sample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plot shows how the estimate of mean eGFR and its associated 95% confidence interval change as sample size increases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Plot: Confidence Intervals vs Sample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Plot Interpretation</a:t>
                </a:r>
              </a:p>
              <a:p>
                <a:pPr lvl="0"/>
                <a:r>
                  <a:rPr/>
                  <a:t>point is a sample mean eGFR</a:t>
                </a:r>
              </a:p>
              <a:p>
                <a:pPr lvl="0"/>
                <a:r>
                  <a:rPr/>
                  <a:t>vertical line is the 95% confidence interval around that estimate</a:t>
                </a:r>
              </a:p>
              <a:p>
                <a:pPr lvl="0"/>
                <a:r>
                  <a:rPr/>
                  <a:t>estimates cluster around a similar value (~60 eGFR)</a:t>
                </a:r>
              </a:p>
              <a:p>
                <a:pPr lvl="0"/>
                <a:r>
                  <a:rPr/>
                  <a:t>as sample size increases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confidence intervals become narrower</a:t>
                </a:r>
              </a:p>
              <a:p>
                <a:pPr lvl="0"/>
                <a:r>
                  <a:rPr/>
                  <a:t>center of the estimates remains stable across sample sizes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Putting Together Key Concepts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A </a:t>
                </a:r>
                <a:r>
                  <a:rPr b="1"/>
                  <a:t>point estimate</a:t>
                </a:r>
                <a:r>
                  <a:rPr/>
                  <a:t> gives one numerical estimate of a population quantity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An </a:t>
                </a:r>
                <a:r>
                  <a:rPr b="1"/>
                  <a:t>interval estimate</a:t>
                </a:r>
                <a:r>
                  <a:rPr/>
                  <a:t> adds uncertainty by giving a range of plausible values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A </a:t>
                </a:r>
                <a:r>
                  <a:rPr b="1"/>
                  <a:t>confidence interval</a:t>
                </a:r>
                <a:r>
                  <a:rPr/>
                  <a:t> is a specific kind of interval estimate with a repeated-sampling confidence interpretation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Larger samples reduce the standard error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narrowing the confidence interval and improving precision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statistical analysis often involves estimating population quantities using sample data</a:t>
            </a:r>
          </a:p>
          <a:p>
            <a:pPr lvl="0" indent="0" marL="0">
              <a:buNone/>
            </a:pPr>
            <a:r>
              <a:rPr/>
              <a:t>across repeated samples:</a:t>
            </a:r>
          </a:p>
          <a:p>
            <a:pPr lvl="0"/>
            <a:r>
              <a:rPr/>
              <a:t>estimates vary due to </a:t>
            </a:r>
            <a:r>
              <a:rPr b="1"/>
              <a:t>sampling variability</a:t>
            </a:r>
            <a:br/>
          </a:p>
          <a:p>
            <a:pPr lvl="0"/>
            <a:r>
              <a:rPr/>
              <a:t>estimators can be evaluated by:</a:t>
            </a:r>
          </a:p>
          <a:p>
            <a:pPr lvl="1"/>
            <a:r>
              <a:rPr b="1"/>
              <a:t>bias</a:t>
            </a:r>
            <a:r>
              <a:rPr/>
              <a:t> (accuracy)</a:t>
            </a:r>
          </a:p>
          <a:p>
            <a:pPr lvl="1"/>
            <a:r>
              <a:rPr b="1"/>
              <a:t>variance</a:t>
            </a:r>
            <a:r>
              <a:rPr/>
              <a:t> (precision)</a:t>
            </a:r>
          </a:p>
          <a:p>
            <a:pPr lvl="0"/>
            <a:r>
              <a:rPr/>
              <a:t>point estimates summarize observed data but do not reflect uncertainty.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standard error (SE)</a:t>
                </a:r>
                <a:r>
                  <a:rPr/>
                  <a:t> quantifies estimate variability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confidence intervals (CI)</a:t>
                </a:r>
                <a:r>
                  <a:rPr/>
                  <a:t> provide a range of plausible values: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Estimate</m:t>
                      </m:r>
                      <m:r>
                        <m:rPr>
                          <m:sty m:val="p"/>
                        </m:rPr>
                        <m:t>±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nor/>
                              <m:sty m:val="p"/>
                            </m:rPr>
                            <m:t>critical value</m:t>
                          </m:r>
                        </m:e>
                      </m:d>
                      <m:r>
                        <m:rPr>
                          <m:sty m:val="p"/>
                        </m:rPr>
                        <m:t>×</m:t>
                      </m:r>
                      <m:r>
                        <m:t>S</m:t>
                      </m:r>
                      <m:r>
                        <m:t>E</m:t>
                      </m:r>
                    </m:oMath>
                  </m:oMathPara>
                </a14:m>
              </a:p>
              <a:p>
                <a:pPr lvl="0"/>
                <a:r>
                  <a:rPr/>
                  <a:t>larger sample size → smaller SE → narrower intervals</a:t>
                </a:r>
                <a:br/>
              </a:p>
              <a:p>
                <a:pPr lvl="0"/>
                <a:r>
                  <a:rPr/>
                  <a:t>intervals reflect precision of the estimate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Estimates Through Uncertainty</dc:title>
  <dc:creator>Lesley Chapman Hannah, Ph.D., M.S.</dc:creator>
  <cp:keywords/>
  <dcterms:created xsi:type="dcterms:W3CDTF">2026-04-20T20:56:41Z</dcterms:created>
  <dcterms:modified xsi:type="dcterms:W3CDTF">2026-04-20T20:56:41Z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